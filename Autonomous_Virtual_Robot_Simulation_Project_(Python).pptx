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6730" y="560316"/>
            <a:ext cx="5715000" cy="20116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5" b="1" dirty="0">
                <a:solidFill>
                  <a:srgbClr val="111111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AUTONOMOUS VIRTUAL ROBOT SIMULATION PROJECT</a:t>
            </a:r>
            <a:endParaRPr lang="en-US" sz="3295" dirty="0"/>
          </a:p>
        </p:txBody>
      </p:sp>
      <p:sp>
        <p:nvSpPr>
          <p:cNvPr id="4" name="Text 1"/>
          <p:cNvSpPr/>
          <p:nvPr/>
        </p:nvSpPr>
        <p:spPr>
          <a:xfrm>
            <a:off x="897255" y="2685617"/>
            <a:ext cx="4217670" cy="367030"/>
          </a:xfrm>
          <a:prstGeom prst="rect">
            <a:avLst/>
          </a:prstGeom>
          <a:noFill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Robotics Programming - Final Project</a:t>
            </a:r>
            <a:endParaRPr lang="en-US" sz="170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720" y="336041"/>
            <a:ext cx="8001000" cy="3771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5" b="1" dirty="0">
                <a:solidFill>
                  <a:srgbClr val="111111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PROJECT OVERVIEW &amp; OBJECTIVES</a:t>
            </a:r>
            <a:endParaRPr lang="en-US" sz="2435" dirty="0"/>
          </a:p>
        </p:txBody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586105" y="1162789"/>
            <a:ext cx="1785938" cy="1790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GOAL</a:t>
            </a:r>
            <a:endParaRPr lang="en-US" sz="985" dirty="0"/>
          </a:p>
        </p:txBody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586105" y="1450324"/>
            <a:ext cx="1785938" cy="897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implement an autonomous virtual robot in a 2D simulated environment, focusing on algorithmic independence.</a:t>
            </a:r>
            <a:endParaRPr lang="en-US" sz="835" dirty="0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2657793" y="1162789"/>
            <a:ext cx="1785938" cy="1790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FOCUS</a:t>
            </a:r>
            <a:endParaRPr lang="en-US" sz="985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2657793" y="1450324"/>
            <a:ext cx="1785938" cy="897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of algorithmic thinking, Object-Oriented Programming (OOP), and realistic robotic behavior simulation.</a:t>
            </a:r>
            <a:endParaRPr lang="en-US" sz="835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4729480" y="1162789"/>
            <a:ext cx="1785938" cy="1790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AUTONOMY</a:t>
            </a:r>
            <a:endParaRPr lang="en-US" sz="985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4729480" y="1450324"/>
            <a:ext cx="1785938" cy="7175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robot makes independent decisions based on virtual sensor inputs and environmental state to reach a target.</a:t>
            </a:r>
            <a:endParaRPr lang="en-US" sz="835" dirty="0"/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6801168" y="1162789"/>
            <a:ext cx="1785938" cy="1790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USED</a:t>
            </a:r>
            <a:endParaRPr lang="en-US" sz="985" dirty="0"/>
          </a:p>
        </p:txBody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6801168" y="1450324"/>
            <a:ext cx="1785938" cy="7175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with Pygame for the graphical user interface, emphasizing custom logic over external AI libraries.</a:t>
            </a:r>
            <a:endParaRPr lang="en-US" sz="83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5679" y="2652313"/>
            <a:ext cx="3143083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84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7543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5" b="1" dirty="0">
                <a:solidFill>
                  <a:srgbClr val="111111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SYSTEM ARCHITECTURE &amp; ENVIRONMENT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500" y="2039066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GRID-BASED MAP</a:t>
            </a:r>
            <a:endParaRPr lang="en-US" sz="985" dirty="0"/>
          </a:p>
        </p:txBody>
      </p:sp>
      <p:sp>
        <p:nvSpPr>
          <p:cNvPr id="5" name="Text 2"/>
          <p:cNvSpPr/>
          <p:nvPr/>
        </p:nvSpPr>
        <p:spPr>
          <a:xfrm>
            <a:off x="571500" y="2326602"/>
            <a:ext cx="1785938" cy="914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15x12 grid environment representing the robot's world, allowing for precise coordinate-based navigation.</a:t>
            </a:r>
            <a:endParaRPr lang="en-US" sz="835" dirty="0"/>
          </a:p>
        </p:txBody>
      </p:sp>
      <p:sp>
        <p:nvSpPr>
          <p:cNvPr id="6" name="Text 3"/>
          <p:cNvSpPr/>
          <p:nvPr/>
        </p:nvSpPr>
        <p:spPr>
          <a:xfrm>
            <a:off x="2643188" y="2039066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 TYPES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2643188" y="2326602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using Python Enums to represent EMPTY, OBSTACLE, and GOAL states, ensuring type safety and clear logic.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4714875" y="2039066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BOUNDARIES &amp; SAFETY</a:t>
            </a:r>
            <a:endParaRPr lang="en-US" sz="985" dirty="0"/>
          </a:p>
        </p:txBody>
      </p:sp>
      <p:sp>
        <p:nvSpPr>
          <p:cNvPr id="9" name="Text 6"/>
          <p:cNvSpPr/>
          <p:nvPr/>
        </p:nvSpPr>
        <p:spPr>
          <a:xfrm>
            <a:off x="4714875" y="2326602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collision prevention system that validates every movement against grid boundaries and obstacles.</a:t>
            </a:r>
            <a:endParaRPr lang="en-US" sz="835" dirty="0"/>
          </a:p>
        </p:txBody>
      </p:sp>
      <p:sp>
        <p:nvSpPr>
          <p:cNvPr id="10" name="Text 7"/>
          <p:cNvSpPr/>
          <p:nvPr/>
        </p:nvSpPr>
        <p:spPr>
          <a:xfrm>
            <a:off x="6786563" y="2039066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6786563" y="2326602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Environment class manages the grid state and provides spatial validation for the robot's sensors and movement.</a:t>
            </a:r>
            <a:endParaRPr lang="en-US" sz="83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141" y="3343153"/>
            <a:ext cx="3378938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7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3771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5" b="1" dirty="0">
                <a:solidFill>
                  <a:srgbClr val="111111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ROBOT MODEL &amp; MOVEMENT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500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985" dirty="0"/>
          </a:p>
        </p:txBody>
      </p:sp>
      <p:sp>
        <p:nvSpPr>
          <p:cNvPr id="5" name="Text 2"/>
          <p:cNvSpPr/>
          <p:nvPr/>
        </p:nvSpPr>
        <p:spPr>
          <a:xfrm>
            <a:off x="571500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robot maintains its position (x, y) and orientation (Direction) across four cardinal points: North, East, South, and West.</a:t>
            </a:r>
            <a:endParaRPr lang="en-US" sz="835" dirty="0"/>
          </a:p>
        </p:txBody>
      </p:sp>
      <p:sp>
        <p:nvSpPr>
          <p:cNvPr id="6" name="Text 3"/>
          <p:cNvSpPr/>
          <p:nvPr/>
        </p:nvSpPr>
        <p:spPr>
          <a:xfrm>
            <a:off x="2643188" y="1661899"/>
            <a:ext cx="1785938" cy="3464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MOVEMENT COMMANDS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2643188" y="2122670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functions for turning towards targets and moving forward, ensuring precise execution of the planned path.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4714875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SENSORS</a:t>
            </a:r>
            <a:endParaRPr lang="en-US" sz="985" dirty="0"/>
          </a:p>
        </p:txBody>
      </p:sp>
      <p:sp>
        <p:nvSpPr>
          <p:cNvPr id="9" name="Text 6"/>
          <p:cNvSpPr/>
          <p:nvPr/>
        </p:nvSpPr>
        <p:spPr>
          <a:xfrm>
            <a:off x="4714875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robot "senses" adjacent cells to identify obstacles or the goal before executing a move, preventing collisions.</a:t>
            </a:r>
            <a:endParaRPr lang="en-US" sz="835" dirty="0"/>
          </a:p>
        </p:txBody>
      </p:sp>
      <p:sp>
        <p:nvSpPr>
          <p:cNvPr id="10" name="Text 7"/>
          <p:cNvSpPr/>
          <p:nvPr/>
        </p:nvSpPr>
        <p:spPr>
          <a:xfrm>
            <a:off x="6786563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6786563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Seamlessly connects high-level decision-making with low-level movement execution for autonomous navigation.</a:t>
            </a:r>
            <a:endParaRPr lang="en-US" sz="83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172" y="3071928"/>
            <a:ext cx="2366897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3771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5" b="1" dirty="0">
                <a:solidFill>
                  <a:srgbClr val="111111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EXTENSION TRACK 1: A* PATHFINDING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500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A*?</a:t>
            </a:r>
            <a:endParaRPr lang="en-US" sz="985" dirty="0"/>
          </a:p>
        </p:txBody>
      </p:sp>
      <p:sp>
        <p:nvSpPr>
          <p:cNvPr id="5" name="Text 2"/>
          <p:cNvSpPr/>
          <p:nvPr/>
        </p:nvSpPr>
        <p:spPr>
          <a:xfrm>
            <a:off x="571500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Chosen for its optimal balance between Dijkstra's efficiency and heuristic-driven intelligence in grid environments.</a:t>
            </a:r>
            <a:endParaRPr lang="en-US" sz="835" dirty="0"/>
          </a:p>
        </p:txBody>
      </p:sp>
      <p:sp>
        <p:nvSpPr>
          <p:cNvPr id="6" name="Text 3"/>
          <p:cNvSpPr/>
          <p:nvPr/>
        </p:nvSpPr>
        <p:spPr>
          <a:xfrm>
            <a:off x="2643188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HEURISTIC FUNCTION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2643188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"Manhattan Distance" to estimate the remaining cost to the goal, ensuring efficient search direction.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4714875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</a:t>
            </a:r>
            <a:endParaRPr lang="en-US" sz="985" dirty="0"/>
          </a:p>
        </p:txBody>
      </p:sp>
      <p:sp>
        <p:nvSpPr>
          <p:cNvPr id="9" name="Text 6"/>
          <p:cNvSpPr/>
          <p:nvPr/>
        </p:nvSpPr>
        <p:spPr>
          <a:xfrm>
            <a:off x="4714875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Calculates the shortest path upon initialization, navigating around complex obstacle configurations with ease.</a:t>
            </a:r>
            <a:endParaRPr lang="en-US" sz="835" dirty="0"/>
          </a:p>
        </p:txBody>
      </p:sp>
      <p:sp>
        <p:nvSpPr>
          <p:cNvPr id="10" name="Text 7"/>
          <p:cNvSpPr/>
          <p:nvPr/>
        </p:nvSpPr>
        <p:spPr>
          <a:xfrm>
            <a:off x="6786563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6786563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Intelligent, direct pathfinding that ensures the robot reaches its destination with minimal steps and no collisions.</a:t>
            </a:r>
            <a:endParaRPr lang="en-US" sz="83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809" y="3223813"/>
            <a:ext cx="2272354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3771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5" b="1" dirty="0">
                <a:solidFill>
                  <a:srgbClr val="111111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FINITE STATE MACHINE (FSM)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500" y="1519024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985" dirty="0"/>
          </a:p>
        </p:txBody>
      </p:sp>
      <p:sp>
        <p:nvSpPr>
          <p:cNvPr id="5" name="Text 2"/>
          <p:cNvSpPr/>
          <p:nvPr/>
        </p:nvSpPr>
        <p:spPr>
          <a:xfrm>
            <a:off x="571500" y="1806559"/>
            <a:ext cx="1785938" cy="914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initial state where the robot calculates the optimal path to the goal using the A* algorithm based on current environment data.</a:t>
            </a:r>
            <a:endParaRPr lang="en-US" sz="835" dirty="0"/>
          </a:p>
        </p:txBody>
      </p:sp>
      <p:sp>
        <p:nvSpPr>
          <p:cNvPr id="6" name="Text 3"/>
          <p:cNvSpPr/>
          <p:nvPr/>
        </p:nvSpPr>
        <p:spPr>
          <a:xfrm>
            <a:off x="2643188" y="1519024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2643188" y="1806559"/>
            <a:ext cx="1785938" cy="914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active movement state where the robot follows the pre-calculated path, managing orientation and step-by-step progression.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4714875" y="1519024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FINISHED</a:t>
            </a:r>
            <a:endParaRPr lang="en-US" sz="985" dirty="0"/>
          </a:p>
        </p:txBody>
      </p:sp>
      <p:sp>
        <p:nvSpPr>
          <p:cNvPr id="9" name="Text 6"/>
          <p:cNvSpPr/>
          <p:nvPr/>
        </p:nvSpPr>
        <p:spPr>
          <a:xfrm>
            <a:off x="4714875" y="1806559"/>
            <a:ext cx="1785938" cy="914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terminal success state reached when the robot's coordinates match the goal position, signaling mission completion.</a:t>
            </a:r>
            <a:endParaRPr lang="en-US" sz="835" dirty="0"/>
          </a:p>
        </p:txBody>
      </p:sp>
      <p:sp>
        <p:nvSpPr>
          <p:cNvPr id="10" name="Text 7"/>
          <p:cNvSpPr/>
          <p:nvPr/>
        </p:nvSpPr>
        <p:spPr>
          <a:xfrm>
            <a:off x="6786563" y="1519024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STUCK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6786563" y="1806559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emergency state triggered if no valid path exists or if the robot exceeds the maximum allowed simulation steps.</a:t>
            </a:r>
            <a:endParaRPr lang="en-US" sz="83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353" y="2978051"/>
            <a:ext cx="3189266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3771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5" b="1" dirty="0">
                <a:solidFill>
                  <a:srgbClr val="111111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EXTENSION: PYGAME GRAPHICAL UI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500" y="1661899"/>
            <a:ext cx="1785938" cy="3464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REPRESENTATION</a:t>
            </a:r>
            <a:endParaRPr lang="en-US" sz="985" dirty="0"/>
          </a:p>
        </p:txBody>
      </p:sp>
      <p:sp>
        <p:nvSpPr>
          <p:cNvPr id="5" name="Text 2"/>
          <p:cNvSpPr/>
          <p:nvPr/>
        </p:nvSpPr>
        <p:spPr>
          <a:xfrm>
            <a:off x="571500" y="2122670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the simulation from a text-based console to an interactive 2D graphical interface for better observation.</a:t>
            </a:r>
            <a:endParaRPr lang="en-US" sz="835" dirty="0"/>
          </a:p>
        </p:txBody>
      </p:sp>
      <p:sp>
        <p:nvSpPr>
          <p:cNvPr id="6" name="Text 3"/>
          <p:cNvSpPr/>
          <p:nvPr/>
        </p:nvSpPr>
        <p:spPr>
          <a:xfrm>
            <a:off x="2643188" y="1661899"/>
            <a:ext cx="1785938" cy="3464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GRAPHICAL COMPONENTS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2643188" y="2122670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custom assets for the robot, obstacles, and goal, providing a clear and intuitive simulation environment.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4714875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INFO PANEL</a:t>
            </a:r>
            <a:endParaRPr lang="en-US" sz="985" dirty="0"/>
          </a:p>
        </p:txBody>
      </p:sp>
      <p:sp>
        <p:nvSpPr>
          <p:cNvPr id="9" name="Text 6"/>
          <p:cNvSpPr/>
          <p:nvPr/>
        </p:nvSpPr>
        <p:spPr>
          <a:xfrm>
            <a:off x="4714875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a dedicated dashboard that displays the robot's current state, step count, and mission progress in real-time.</a:t>
            </a:r>
            <a:endParaRPr lang="en-US" sz="835" dirty="0"/>
          </a:p>
        </p:txBody>
      </p:sp>
      <p:sp>
        <p:nvSpPr>
          <p:cNvPr id="10" name="Text 7"/>
          <p:cNvSpPr/>
          <p:nvPr/>
        </p:nvSpPr>
        <p:spPr>
          <a:xfrm>
            <a:off x="6786563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6786563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at 30 FPS to ensure smooth movement transitions and immediate visual feedback for every decision step.</a:t>
            </a:r>
            <a:endParaRPr lang="en-US" sz="83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12" y="2968741"/>
            <a:ext cx="2649215" cy="20145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6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3771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5" b="1" dirty="0">
                <a:solidFill>
                  <a:srgbClr val="111111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CONCLUSION &amp; KEY TAKEAWAYS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571500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MET</a:t>
            </a:r>
            <a:endParaRPr lang="en-US" sz="985" dirty="0"/>
          </a:p>
        </p:txBody>
      </p:sp>
      <p:sp>
        <p:nvSpPr>
          <p:cNvPr id="5" name="Text 2"/>
          <p:cNvSpPr/>
          <p:nvPr/>
        </p:nvSpPr>
        <p:spPr>
          <a:xfrm>
            <a:off x="571500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implemented core requirements plus three extension tracks: Path Planning, FSM, and Graphical UI.</a:t>
            </a:r>
            <a:endParaRPr lang="en-US" sz="835" dirty="0"/>
          </a:p>
        </p:txBody>
      </p:sp>
      <p:sp>
        <p:nvSpPr>
          <p:cNvPr id="6" name="Text 3"/>
          <p:cNvSpPr/>
          <p:nvPr/>
        </p:nvSpPr>
        <p:spPr>
          <a:xfrm>
            <a:off x="2643188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 LEARNED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2643188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importance of decoupling logic from presentation and using OOP for scalable and maintainable code.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4714875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</a:t>
            </a:r>
            <a:endParaRPr lang="en-US" sz="985" dirty="0"/>
          </a:p>
        </p:txBody>
      </p:sp>
      <p:sp>
        <p:nvSpPr>
          <p:cNvPr id="9" name="Text 6"/>
          <p:cNvSpPr/>
          <p:nvPr/>
        </p:nvSpPr>
        <p:spPr>
          <a:xfrm>
            <a:off x="4714875" y="1949434"/>
            <a:ext cx="1785938" cy="731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for dynamic obstacles, multi-robot cooperation, or learning-based behaviors for adaptive navigation.</a:t>
            </a:r>
            <a:endParaRPr lang="en-US" sz="835" dirty="0"/>
          </a:p>
        </p:txBody>
      </p:sp>
      <p:sp>
        <p:nvSpPr>
          <p:cNvPr id="10" name="Text 7"/>
          <p:cNvSpPr/>
          <p:nvPr/>
        </p:nvSpPr>
        <p:spPr>
          <a:xfrm>
            <a:off x="6786563" y="1661899"/>
            <a:ext cx="1785938" cy="17323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OUTCOME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6786563" y="1949434"/>
            <a:ext cx="1785938" cy="9143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simulation system demonstrating fundamental principles of autonomous robotics and algorithmic design.</a:t>
            </a:r>
            <a:endParaRPr lang="en-US" sz="83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051" y="3086636"/>
            <a:ext cx="2856607" cy="18002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3.29055118110236,&quot;left&quot;:46.15,&quot;top&quot;:91.55818897637795,&quot;width&quot;:630.0000787401575}"/>
</p:tagLst>
</file>

<file path=ppt/tags/tag2.xml><?xml version="1.0" encoding="utf-8"?>
<p:tagLst xmlns:p="http://schemas.openxmlformats.org/presentationml/2006/main">
  <p:tag name="KSO_WM_DIAGRAM_VIRTUALLY_FRAME" val="{&quot;height&quot;:93.29055118110236,&quot;left&quot;:46.15,&quot;top&quot;:91.55818897637795,&quot;width&quot;:630.0000787401575}"/>
</p:tagLst>
</file>

<file path=ppt/tags/tag3.xml><?xml version="1.0" encoding="utf-8"?>
<p:tagLst xmlns:p="http://schemas.openxmlformats.org/presentationml/2006/main">
  <p:tag name="KSO_WM_DIAGRAM_VIRTUALLY_FRAME" val="{&quot;height&quot;:93.29055118110236,&quot;left&quot;:46.15,&quot;top&quot;:91.55818897637795,&quot;width&quot;:630.0000787401575}"/>
</p:tagLst>
</file>

<file path=ppt/tags/tag4.xml><?xml version="1.0" encoding="utf-8"?>
<p:tagLst xmlns:p="http://schemas.openxmlformats.org/presentationml/2006/main">
  <p:tag name="KSO_WM_DIAGRAM_VIRTUALLY_FRAME" val="{&quot;height&quot;:93.29055118110236,&quot;left&quot;:46.15,&quot;top&quot;:91.55818897637795,&quot;width&quot;:630.0000787401575}"/>
</p:tagLst>
</file>

<file path=ppt/tags/tag5.xml><?xml version="1.0" encoding="utf-8"?>
<p:tagLst xmlns:p="http://schemas.openxmlformats.org/presentationml/2006/main">
  <p:tag name="KSO_WM_DIAGRAM_VIRTUALLY_FRAME" val="{&quot;height&quot;:93.29055118110236,&quot;left&quot;:46.15,&quot;top&quot;:91.55818897637795,&quot;width&quot;:630.0000787401575}"/>
</p:tagLst>
</file>

<file path=ppt/tags/tag6.xml><?xml version="1.0" encoding="utf-8"?>
<p:tagLst xmlns:p="http://schemas.openxmlformats.org/presentationml/2006/main">
  <p:tag name="KSO_WM_DIAGRAM_VIRTUALLY_FRAME" val="{&quot;height&quot;:93.29055118110236,&quot;left&quot;:46.15,&quot;top&quot;:91.55818897637795,&quot;width&quot;:630.0000787401575}"/>
</p:tagLst>
</file>

<file path=ppt/tags/tag7.xml><?xml version="1.0" encoding="utf-8"?>
<p:tagLst xmlns:p="http://schemas.openxmlformats.org/presentationml/2006/main">
  <p:tag name="KSO_WM_DIAGRAM_VIRTUALLY_FRAME" val="{&quot;height&quot;:93.29055118110236,&quot;left&quot;:46.15,&quot;top&quot;:91.55818897637795,&quot;width&quot;:630.0000787401575}"/>
</p:tagLst>
</file>

<file path=ppt/tags/tag8.xml><?xml version="1.0" encoding="utf-8"?>
<p:tagLst xmlns:p="http://schemas.openxmlformats.org/presentationml/2006/main">
  <p:tag name="KSO_WM_DIAGRAM_VIRTUALLY_FRAME" val="{&quot;height&quot;:93.29055118110236,&quot;left&quot;:46.15,&quot;top&quot;:91.55818897637795,&quot;width&quot;:630.00007874015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WPS Presentation</Application>
  <PresentationFormat>On-screen Show (16:9)</PresentationFormat>
  <Paragraphs>130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Archivo Black</vt:lpstr>
      <vt:lpstr>Segoe Print</vt:lpstr>
      <vt:lpstr>Archivo Black</vt:lpstr>
      <vt:lpstr>Archivo Black</vt:lpstr>
      <vt:lpstr>Inter</vt:lpstr>
      <vt:lpstr>Inter</vt:lpstr>
      <vt:lpstr>Inter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Nour Dabour</cp:lastModifiedBy>
  <cp:revision>2</cp:revision>
  <dcterms:created xsi:type="dcterms:W3CDTF">2026-03-07T10:04:00Z</dcterms:created>
  <dcterms:modified xsi:type="dcterms:W3CDTF">2026-03-07T10:04:00Z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E0CAEDDE52894922B29D30C386D7E2AB_12</vt:lpwstr>
  </property>
  <property fmtid="{D5CDD505-2E9C-101B-9397-08002B2CF9AE}" pid="3" name="KSOProductBuildVer">
    <vt:lpwstr>1033-12.2.0.23196</vt:lpwstr>
  </property>
</Properties>
</file>